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PILOTO / INVERSIÓN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Command Center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Centro de Control Ejecutivo para empresas: una pantalla para ver ventas, dinero, operación, riesgos y decisiones en un solo lugar.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7223760" cy="7498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000" b="1">
                <a:solidFill>
                  <a:srgbClr val="2DF6C8"/>
                </a:solidFill>
                <a:latin typeface="Aptos Display"/>
              </a:rPr>
              <a:t>Dejar de dirigir por WhatsApp, Excel y reportes tarde.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07792"/>
            <a:ext cx="6583680" cy="56692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0">
                <a:solidFill>
                  <a:srgbClr val="DAE6F2"/>
                </a:solidFill>
                <a:latin typeface="Aptos"/>
              </a:rPr>
              <a:t>Empezar a dirigir con un sistema visual que muestra qué está pasando, qué falla y qué decisión tomar.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2057400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142231"/>
            <a:ext cx="172821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2DF6C8"/>
                </a:solidFill>
                <a:latin typeface="Aptos Display"/>
              </a:rPr>
              <a:t>360°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90288"/>
            <a:ext cx="1691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empresa visible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977639"/>
            <a:ext cx="2057400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392" y="4142231"/>
            <a:ext cx="172821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F7C76A"/>
                </a:solidFill>
                <a:latin typeface="Aptos Display"/>
              </a:rPr>
              <a:t>90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590288"/>
            <a:ext cx="1691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piloto medible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977639"/>
            <a:ext cx="2057400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4142231"/>
            <a:ext cx="172821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44FF99"/>
                </a:solidFill>
                <a:latin typeface="Aptos Display"/>
              </a:rP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590288"/>
            <a:ext cx="1691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valor claro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1097280"/>
            <a:ext cx="2468880" cy="24688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65792" y="1865376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1952244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794760"/>
            <a:ext cx="233172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8FCFF"/>
                </a:solidFill>
                <a:latin typeface="Aptos"/>
              </a:rPr>
              <a:t>Organigrama vivo</a:t>
            </a:r>
            <a:br/>
            <a:r>
              <a:rPr>
                <a:latin typeface="Aptos"/>
              </a:rPr>
              <a:t>+ Dashboard CEO</a:t>
            </a:r>
            <a:br/>
            <a:r>
              <a:rPr>
                <a:latin typeface="Aptos"/>
              </a:rPr>
              <a:t>+ IA operativa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DOLOR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El problema: la empresa ya existe, pero el control está fragmentado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La dirección pierde velocidad cuando la información vive dispersa y llega tarde.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40280"/>
            <a:ext cx="498348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2587752"/>
            <a:ext cx="384048" cy="38404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7462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468880"/>
            <a:ext cx="3931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WhatsApp disperso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34640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30" b="0">
                <a:solidFill>
                  <a:srgbClr val="A6B8CD"/>
                </a:solidFill>
                <a:latin typeface="Aptos"/>
              </a:rPr>
              <a:t>Decisiones, evidencias y seguimiento quedan enterrados en chats.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240280"/>
            <a:ext cx="498348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2587752"/>
            <a:ext cx="384048" cy="384048"/>
          </a:xfrm>
          <a:prstGeom prst="ellipse">
            <a:avLst/>
          </a:prstGeom>
          <a:solidFill>
            <a:srgbClr val="FF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67462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468880"/>
            <a:ext cx="3931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Excel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834640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30" b="0">
                <a:solidFill>
                  <a:srgbClr val="A6B8CD"/>
                </a:solidFill>
                <a:latin typeface="Aptos"/>
              </a:rPr>
              <a:t>Horas capturando, copiando y corrigiendo datos.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49039"/>
            <a:ext cx="498348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5528" y="4096511"/>
            <a:ext cx="384048" cy="38404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183379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977639"/>
            <a:ext cx="3931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Reportes tarde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4343400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30" b="0">
                <a:solidFill>
                  <a:srgbClr val="A6B8CD"/>
                </a:solidFill>
                <a:latin typeface="Aptos"/>
              </a:rPr>
              <a:t>El dueño ve el problema cuando ya costó dinero.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749039"/>
            <a:ext cx="498348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27648" y="4096511"/>
            <a:ext cx="384048" cy="384048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4183379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977639"/>
            <a:ext cx="39319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Áreas desconectadas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343400"/>
            <a:ext cx="38404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30" b="0">
                <a:solidFill>
                  <a:srgbClr val="A6B8CD"/>
                </a:solidFill>
                <a:latin typeface="Aptos"/>
              </a:rPr>
              <a:t>Ventas, finanzas y operación no comparten una misma verdad.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504688"/>
            <a:ext cx="97840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2DF6C8"/>
                </a:solidFill>
                <a:latin typeface="Aptos Display"/>
              </a:rPr>
              <a:t>El producto no se vende como “IA”. Se vende como control, velocidad y margen.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PRODUCTO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La solución: un centro de control ejecutivo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Command Center 360 convierte la operación en una pantalla viva con jerarquía, KPIs, alertas y aprobaciones.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57400"/>
            <a:ext cx="2487168" cy="242316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22677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3545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048256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Organigrama vivo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19659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A6B8CD"/>
                </a:solidFill>
                <a:latin typeface="Aptos"/>
              </a:rPr>
              <a:t>Cada área muestra KPIs, riesgos y oportunidades.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057400"/>
            <a:ext cx="2487168" cy="242316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47872" y="22677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3545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2788920"/>
            <a:ext cx="2048256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Dashboard CEO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79" y="3383280"/>
            <a:ext cx="19659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A6B8CD"/>
                </a:solidFill>
                <a:latin typeface="Aptos"/>
              </a:rPr>
              <a:t>Ventas, cashflow, operación y decisiones pendientes.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057400"/>
            <a:ext cx="2487168" cy="242316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36792" y="22677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3545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88920"/>
            <a:ext cx="2048256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Diagnóstico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83280"/>
            <a:ext cx="19659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A6B8CD"/>
                </a:solidFill>
                <a:latin typeface="Aptos"/>
              </a:rPr>
              <a:t>Score de madurez y prioridades de primer piloto.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2057400"/>
            <a:ext cx="2487168" cy="242316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5711" y="22677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1" y="23545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788920"/>
            <a:ext cx="2048256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ROI / Piloto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3383280"/>
            <a:ext cx="19659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50" b="0">
                <a:solidFill>
                  <a:srgbClr val="A6B8CD"/>
                </a:solidFill>
                <a:latin typeface="Aptos"/>
              </a:rPr>
              <a:t>Modelo simple para justificar inversión y escala.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074920"/>
            <a:ext cx="102412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F7C76A"/>
                </a:solidFill>
                <a:latin typeface="Aptos Display"/>
              </a:rPr>
              <a:t>Resultado: el dueño deja de pedir “mándame el reporte” y abre una vista ejecutiva actualizada.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ANTES / DESPUÉS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Antes vs. con Command Center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El cambio debe entenderse en 20 segundos: menos persecución, más visibilidad y mejores decisiones.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5257800" cy="3429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12848"/>
            <a:ext cx="12801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FF6B7D"/>
                </a:solidFill>
                <a:latin typeface="Aptos Display"/>
              </a:rPr>
              <a:t>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97480"/>
            <a:ext cx="4251960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El dueño persigue pendientes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Los reportes llegan tarde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WhatsApp decide demasiado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No hay ROI por proceso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El equipo trabaja con datos distintos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5257800" cy="3429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12848"/>
            <a:ext cx="40233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2DF6C8"/>
                </a:solidFill>
                <a:latin typeface="Aptos Display"/>
              </a:rPr>
              <a:t>CON COMMAND CENTER 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80"/>
            <a:ext cx="4343400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KPIs y alertas en una pantalla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Decisiones pendientes visibles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IA prepara y actualiza información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Piloto con baseline y ROI</a:t>
            </a:r>
          </a:p>
          <a:p>
            <a:pPr algn="l">
              <a:spcAft>
                <a:spcPts val="400"/>
              </a:spcAft>
              <a:defRPr sz="15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Cada área sabe qué sigue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Lo que gana el dueño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El valor no está en la tecnología; está en decidir antes, responder más rápido y reducir fugas.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4892040" cy="118872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350008"/>
            <a:ext cx="384048" cy="384048"/>
          </a:xfrm>
          <a:prstGeom prst="ellipse">
            <a:avLst/>
          </a:prstGeom>
          <a:solidFill>
            <a:srgbClr val="44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36876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240279"/>
            <a:ext cx="24688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44FF99"/>
                </a:solidFill>
                <a:latin typeface="Aptos Display"/>
              </a:rPr>
              <a:t>Dinero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2596896"/>
            <a:ext cx="3657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Menos fuga operativa y más conversión comercial.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65960"/>
            <a:ext cx="4892040" cy="118872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350008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36876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240279"/>
            <a:ext cx="24688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2DF6C8"/>
                </a:solidFill>
                <a:latin typeface="Aptos Display"/>
              </a:rPr>
              <a:t>Tiempo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596896"/>
            <a:ext cx="3657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Menos captura, reportes y seguimiento manual.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20439"/>
            <a:ext cx="4892040" cy="118872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904487"/>
            <a:ext cx="384048" cy="384048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91355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794759"/>
            <a:ext cx="24688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42D8FF"/>
                </a:solidFill>
                <a:latin typeface="Aptos Display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4151375"/>
            <a:ext cx="3657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Una sola vista de ventas, finanzas, operación y riesgos.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520439"/>
            <a:ext cx="4892040" cy="118872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904487"/>
            <a:ext cx="384048" cy="384048"/>
          </a:xfrm>
          <a:prstGeom prst="ellipse">
            <a:avLst/>
          </a:prstGeom>
          <a:solidFill>
            <a:srgbClr val="F7C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91355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3794759"/>
            <a:ext cx="24688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F7C76A"/>
                </a:solidFill>
                <a:latin typeface="Aptos Display"/>
              </a:rPr>
              <a:t>Capacidad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4151375"/>
            <a:ext cx="3657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6B8CD"/>
                </a:solidFill>
                <a:latin typeface="Aptos"/>
              </a:rPr>
              <a:t>Agentes y apps internas para procesos repetibles.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577840"/>
            <a:ext cx="960120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7C76A"/>
                </a:solidFill>
                <a:latin typeface="Aptos Display"/>
              </a:rPr>
              <a:t>La frase que vende: “No es tecnología. Es margen, velocidad y control.”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MÓDULOS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Primeros módulos vendibles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No se promete transformar todo desde el día uno; se instala donde el valor es más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3364992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39696"/>
            <a:ext cx="2651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F8FCFF"/>
                </a:solidFill>
                <a:latin typeface="Aptos Display"/>
              </a:rPr>
              <a:t>Ventas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leads, cotizaciones, seguimiento, agenda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938528"/>
            <a:ext cx="3364992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39696"/>
            <a:ext cx="2651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F8FCFF"/>
                </a:solidFill>
                <a:latin typeface="Aptos Display"/>
              </a:rPr>
              <a:t>Finanzas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cashflow, cobranza, gasto, desviaciones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938528"/>
            <a:ext cx="3364992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139696"/>
            <a:ext cx="2651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F8FCFF"/>
                </a:solidFill>
                <a:latin typeface="Aptos Display"/>
              </a:rPr>
              <a:t>Operaciones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87168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tickets, SLA, entregas, responsables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3364992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57016"/>
            <a:ext cx="2651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F8FCFF"/>
                </a:solidFill>
                <a:latin typeface="Aptos Display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04487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contenido, campañas, costo por lead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355848"/>
            <a:ext cx="3364992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557016"/>
            <a:ext cx="2651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F8FCFF"/>
                </a:solidFill>
                <a:latin typeface="Aptos Display"/>
              </a:rPr>
              <a:t>Documentos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04487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contratos, faltantes, vencimientos, OCR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355848"/>
            <a:ext cx="3364992" cy="1078992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3557016"/>
            <a:ext cx="2651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F8FCFF"/>
                </a:solidFill>
                <a:latin typeface="Aptos Display"/>
              </a:rPr>
              <a:t>Dirección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3904487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80" b="0">
                <a:solidFill>
                  <a:srgbClr val="A6B8CD"/>
                </a:solidFill>
                <a:latin typeface="Aptos"/>
              </a:rPr>
              <a:t>resumen ejecutivo, preguntas y decisiones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996696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50" b="1">
                <a:solidFill>
                  <a:srgbClr val="2DF6C8"/>
                </a:solidFill>
                <a:latin typeface="Aptos Display"/>
              </a:rPr>
              <a:t>Cada módulo se vende como resultado operativo, no como “función de software”.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GO TO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Piloto de 90 días: bajo riesgo, medible y escalable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La venta inicial debe ser una prueba controlada, no una implementación gigante.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0280"/>
            <a:ext cx="2423160" cy="20574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" y="24963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5831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0–15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1874519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60" b="0">
                <a:solidFill>
                  <a:srgbClr val="A6B8CD"/>
                </a:solidFill>
                <a:latin typeface="Aptos"/>
              </a:rPr>
              <a:t>diagnóstico, baseline y selección de 3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240280"/>
            <a:ext cx="2423160" cy="20574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4176" y="24963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4176" y="25831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97180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16–45 días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383280"/>
            <a:ext cx="1874519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60" b="0">
                <a:solidFill>
                  <a:srgbClr val="A6B8CD"/>
                </a:solidFill>
                <a:latin typeface="Aptos"/>
              </a:rPr>
              <a:t>dashboard, datos mínimos, agentes y permisos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240280"/>
            <a:ext cx="2423160" cy="20574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3096" y="24963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5831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7180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46–75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1874519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60" b="0">
                <a:solidFill>
                  <a:srgbClr val="A6B8CD"/>
                </a:solidFill>
                <a:latin typeface="Aptos"/>
              </a:rPr>
              <a:t>uso real con equipo piloto y ajustes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59" y="2240280"/>
            <a:ext cx="2423160" cy="20574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72015" y="2496312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5" y="2583180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297180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8FCFF"/>
                </a:solidFill>
                <a:latin typeface="Aptos Display"/>
              </a:rPr>
              <a:t>76–90 días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3383280"/>
            <a:ext cx="1874519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60" b="0">
                <a:solidFill>
                  <a:srgbClr val="A6B8CD"/>
                </a:solidFill>
                <a:latin typeface="Aptos"/>
              </a:rPr>
              <a:t>ROI, aprendizajes y plan de escala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138928"/>
            <a:ext cx="102412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7C76A"/>
                </a:solidFill>
                <a:latin typeface="Aptos Display"/>
              </a:rPr>
              <a:t>Regla comercial: si el piloto no demuestra ahorro, tiempo o control, no se escala.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ROI simple: la cuenta debe ser obvia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La presentación debe poder explicarse en 30 segundos con supuestos editables.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228600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21992"/>
            <a:ext cx="195681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F8FCFF"/>
                </a:solidFill>
                <a:latin typeface="Aptos Display"/>
              </a:rPr>
              <a:t>$250M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0048"/>
            <a:ext cx="1920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gasto anual impactable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267712"/>
            <a:ext cx="3657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800" b="1">
                <a:solidFill>
                  <a:srgbClr val="A6B8CD"/>
                </a:solidFill>
                <a:latin typeface="Aptos Display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057400"/>
            <a:ext cx="205740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1" y="2221992"/>
            <a:ext cx="172821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F7C76A"/>
                </a:solidFill>
                <a:latin typeface="Aptos Display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670048"/>
            <a:ext cx="16916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mejora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267712"/>
            <a:ext cx="3657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800" b="1">
                <a:solidFill>
                  <a:srgbClr val="A6B8CD"/>
                </a:solidFill>
                <a:latin typeface="Aptos Display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057400"/>
            <a:ext cx="242316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2221992"/>
            <a:ext cx="209397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44FF99"/>
                </a:solidFill>
                <a:latin typeface="Aptos Display"/>
              </a:rPr>
              <a:t>$37.5M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70048"/>
            <a:ext cx="2057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valor anual estimado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057400"/>
            <a:ext cx="233172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2" y="2221992"/>
            <a:ext cx="2002536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500" b="1">
                <a:solidFill>
                  <a:srgbClr val="2DF6C8"/>
                </a:solidFill>
                <a:latin typeface="Aptos Display"/>
              </a:rPr>
              <a:t>4.8 meses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670048"/>
            <a:ext cx="1965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980" b="0">
                <a:solidFill>
                  <a:srgbClr val="A6B8CD"/>
                </a:solidFill>
                <a:latin typeface="Aptos"/>
              </a:rPr>
              <a:t>payback con inversión de $15M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77639"/>
            <a:ext cx="10835640" cy="114300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224528"/>
            <a:ext cx="22402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2DF6C8"/>
                </a:solidFill>
                <a:latin typeface="Aptos Display"/>
              </a:rPr>
              <a:t>Importante para inversionista: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224528"/>
            <a:ext cx="78638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00" b="0">
                <a:solidFill>
                  <a:srgbClr val="DAE6F2"/>
                </a:solidFill>
                <a:latin typeface="Aptos"/>
              </a:rPr>
              <a:t>El modelo no promete un resultado fijo; demuestra una metodología para medir valor antes de escalar.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Modelo comercial del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Command Center 360 puede venderse como diagnóstico + piloto + expansión por módulos.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65960"/>
            <a:ext cx="10424160" cy="6400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12264"/>
            <a:ext cx="21031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2DF6C8"/>
                </a:solidFill>
                <a:latin typeface="Aptos Display"/>
              </a:rPr>
              <a:t>1. 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12264"/>
            <a:ext cx="7223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50" b="0">
                <a:solidFill>
                  <a:srgbClr val="DAE6F2"/>
                </a:solidFill>
                <a:latin typeface="Aptos"/>
              </a:rPr>
              <a:t>Mapa de fugas, procesos, datos y quick wins.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39"/>
            <a:ext cx="10424160" cy="6400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80944"/>
            <a:ext cx="21031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2DF6C8"/>
                </a:solidFill>
                <a:latin typeface="Aptos Display"/>
              </a:rPr>
              <a:t>2. Piloto 90 días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80944"/>
            <a:ext cx="7223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50" b="0">
                <a:solidFill>
                  <a:srgbClr val="DAE6F2"/>
                </a:solidFill>
                <a:latin typeface="Aptos"/>
              </a:rPr>
              <a:t>Dashboard + 3 workflows + ROI medido.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10424160" cy="6400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49624"/>
            <a:ext cx="21031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2DF6C8"/>
                </a:solidFill>
                <a:latin typeface="Aptos Display"/>
              </a:rPr>
              <a:t>3. Expansión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849624"/>
            <a:ext cx="7223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50" b="0">
                <a:solidFill>
                  <a:srgbClr val="DAE6F2"/>
                </a:solidFill>
                <a:latin typeface="Aptos"/>
              </a:rPr>
              <a:t>Módulos por área, automatizaciones e integraciones.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10424160" cy="6400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18304"/>
            <a:ext cx="21031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500" b="1">
                <a:solidFill>
                  <a:srgbClr val="2DF6C8"/>
                </a:solidFill>
                <a:latin typeface="Aptos Display"/>
              </a:rPr>
              <a:t>4. Operación mensual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718304"/>
            <a:ext cx="72237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50" b="0">
                <a:solidFill>
                  <a:srgbClr val="DAE6F2"/>
                </a:solidFill>
                <a:latin typeface="Aptos"/>
              </a:rPr>
              <a:t>Mantenimiento, mejoras, reportes y nuevos agentes.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96926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50" b="1">
                <a:solidFill>
                  <a:srgbClr val="F7C76A"/>
                </a:solidFill>
                <a:latin typeface="Aptos Display"/>
              </a:rPr>
              <a:t>El paquete se entiende como una inversión en control y margen, no como “software genérico”.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Diferenciador: no es un bot, es un sistema de dirección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La ventaja está en combinar visualización ejecutiva, procesos, IA y permisos humanos.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10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1874519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1388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828800"/>
            <a:ext cx="23317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1">
                <a:solidFill>
                  <a:srgbClr val="F8FCFF"/>
                </a:solidFill>
                <a:latin typeface="Aptos Display"/>
              </a:rPr>
              <a:t>Visual primero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28800"/>
            <a:ext cx="7132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70" b="0">
                <a:solidFill>
                  <a:srgbClr val="A6B8CD"/>
                </a:solidFill>
                <a:latin typeface="Aptos"/>
              </a:rPr>
              <a:t>El dueño entiende la empresa sin leer documentación técnica.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624327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11196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578608"/>
            <a:ext cx="23317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1">
                <a:solidFill>
                  <a:srgbClr val="F8FCFF"/>
                </a:solidFill>
                <a:latin typeface="Aptos Display"/>
              </a:rPr>
              <a:t>Proceso antes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578608"/>
            <a:ext cx="7132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70" b="0">
                <a:solidFill>
                  <a:srgbClr val="A6B8CD"/>
                </a:solidFill>
                <a:latin typeface="Aptos"/>
              </a:rPr>
              <a:t>Se mide dónde duele antes de automatizar.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374135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61003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328415"/>
            <a:ext cx="23317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1">
                <a:solidFill>
                  <a:srgbClr val="F8FCFF"/>
                </a:solidFill>
                <a:latin typeface="Aptos Display"/>
              </a:rPr>
              <a:t>Aprobación humana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328415"/>
            <a:ext cx="7132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70" b="0">
                <a:solidFill>
                  <a:srgbClr val="A6B8CD"/>
                </a:solidFill>
                <a:latin typeface="Aptos"/>
              </a:rPr>
              <a:t>Pagos, contratos y decisiones sensibles no se automatizan a ciegas.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123944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10812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078224"/>
            <a:ext cx="23317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1">
                <a:solidFill>
                  <a:srgbClr val="F8FCFF"/>
                </a:solidFill>
                <a:latin typeface="Aptos Display"/>
              </a:rPr>
              <a:t>Plantillas por industria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078224"/>
            <a:ext cx="7132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70" b="0">
                <a:solidFill>
                  <a:srgbClr val="A6B8CD"/>
                </a:solidFill>
                <a:latin typeface="Aptos"/>
              </a:rPr>
              <a:t>Se adapta a distribuidoras, servicios, clínicas, restaurantes, agencias y más.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4873751"/>
            <a:ext cx="384048" cy="384048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60619"/>
            <a:ext cx="384048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950" b="1">
                <a:solidFill>
                  <a:srgbClr val="05080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828031"/>
            <a:ext cx="23317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1">
                <a:solidFill>
                  <a:srgbClr val="F8FCFF"/>
                </a:solidFill>
                <a:latin typeface="Aptos Display"/>
              </a:rPr>
              <a:t>ROI visible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828031"/>
            <a:ext cx="71323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70" b="0">
                <a:solidFill>
                  <a:srgbClr val="A6B8CD"/>
                </a:solidFill>
                <a:latin typeface="Aptos"/>
              </a:rPr>
              <a:t>Cada piloto se evalúa por ahorro, tiempo, control y adopción.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Roadmap del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El piloto actual es la prueba comercial; el producto puede crecer por capas.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2423160" cy="22402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468880"/>
            <a:ext cx="1874519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2DF6C8"/>
                </a:solidFill>
                <a:latin typeface="Aptos Display"/>
              </a:rPr>
              <a:t>v1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71800"/>
            <a:ext cx="1874519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organigrama, CEO dashboard, diagnóstico y ROI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148840"/>
            <a:ext cx="2423160" cy="22402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468880"/>
            <a:ext cx="1874519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2DF6C8"/>
                </a:solidFill>
                <a:latin typeface="Aptos Display"/>
              </a:rPr>
              <a:t>v2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971800"/>
            <a:ext cx="1874519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JSON/CSV, industrias, ejemplos aterrizados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2423160" cy="22402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2468880"/>
            <a:ext cx="1874519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2DF6C8"/>
                </a:solidFill>
                <a:latin typeface="Aptos Display"/>
              </a:rPr>
              <a:t>v3 Integraciones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971800"/>
            <a:ext cx="1874519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CRM, Sheets, Drive, WhatsApp Business, ERP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2148840"/>
            <a:ext cx="2423160" cy="22402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468880"/>
            <a:ext cx="1874519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2DF6C8"/>
                </a:solidFill>
                <a:latin typeface="Aptos Display"/>
              </a:rPr>
              <a:t>v4 Plataforma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971800"/>
            <a:ext cx="1874519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6B8CD"/>
                </a:solidFill>
                <a:latin typeface="Aptos"/>
              </a:rPr>
              <a:t>clientes, plantillas, analítica y agentes por área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257800"/>
            <a:ext cx="10149840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50" b="1">
                <a:solidFill>
                  <a:srgbClr val="F7C76A"/>
                </a:solidFill>
                <a:latin typeface="Aptos Display"/>
              </a:rPr>
              <a:t>Próximo activo comercial: link público del piloto + deck inversionista + casos por industria.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2D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983480"/>
            <a:ext cx="2011680" cy="2011680"/>
          </a:xfrm>
          <a:prstGeom prst="ellipse">
            <a:avLst/>
          </a:prstGeom>
          <a:solidFill>
            <a:srgbClr val="B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5989320"/>
            <a:ext cx="2560320" cy="1005840"/>
          </a:xfrm>
          <a:prstGeom prst="ellipse">
            <a:avLst/>
          </a:prstGeom>
          <a:solidFill>
            <a:srgbClr val="42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2331720" cy="329184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448056"/>
            <a:ext cx="2185415" cy="23774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1">
                <a:solidFill>
                  <a:srgbClr val="2DF6C8"/>
                </a:solidFill>
                <a:latin typeface="Aptos"/>
              </a:rPr>
              <a:t>SIGUIENTE PASO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704088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3300" b="1">
                <a:solidFill>
                  <a:srgbClr val="F8FCFF"/>
                </a:solidFill>
                <a:latin typeface="Aptos Display"/>
              </a:rPr>
              <a:t>La decisión de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63040"/>
            <a:ext cx="8046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450" b="0">
                <a:solidFill>
                  <a:srgbClr val="A6B8CD"/>
                </a:solidFill>
                <a:latin typeface="Aptos"/>
              </a:rPr>
              <a:t>Probar el producto con prospectos reales y medir qué historia comercial convierte mejor.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023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850" b="0">
                <a:solidFill>
                  <a:srgbClr val="A6B8CD"/>
                </a:solidFill>
                <a:latin typeface="Aptos"/>
              </a:rPr>
              <a:t>Command Center 360 · Centro de Control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320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/>
            <a:r>
              <a:rPr sz="850" b="0">
                <a:solidFill>
                  <a:srgbClr val="A6B8CD"/>
                </a:solidFill>
                <a:latin typeface="Apto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6492240" cy="2240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spcAft>
                <a:spcPts val="400"/>
              </a:spcAft>
              <a:defRPr sz="18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Usar el link del piloto para conversaciones por WhatsApp y reuniones.</a:t>
            </a:r>
          </a:p>
          <a:p>
            <a:pPr algn="l">
              <a:spcAft>
                <a:spcPts val="400"/>
              </a:spcAft>
              <a:defRPr sz="18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Elegir 2–3 industrias objetivo para demos aterrizadas.</a:t>
            </a:r>
          </a:p>
          <a:p>
            <a:pPr algn="l">
              <a:spcAft>
                <a:spcPts val="400"/>
              </a:spcAft>
              <a:defRPr sz="18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Convertir feedback de dueños/directores en v2 del producto.</a:t>
            </a:r>
          </a:p>
          <a:p>
            <a:pPr algn="l">
              <a:spcAft>
                <a:spcPts val="400"/>
              </a:spcAft>
              <a:defRPr sz="1800">
                <a:solidFill>
                  <a:srgbClr val="DAE6F2"/>
                </a:solidFill>
                <a:latin typeface="Aptos"/>
              </a:defRPr>
            </a:pPr>
            <a:r>
              <a:rPr>
                <a:latin typeface="Aptos"/>
              </a:rPr>
              <a:t>• Cerrar primer piloto pagado con alcance de 90 días.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874519"/>
            <a:ext cx="3520440" cy="2697480"/>
          </a:xfrm>
          <a:prstGeom prst="roundRect">
            <a:avLst/>
          </a:prstGeom>
          <a:solidFill>
            <a:srgbClr val="121F30"/>
          </a:solidFill>
          <a:ln>
            <a:solidFill>
              <a:srgbClr val="2C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194560"/>
            <a:ext cx="26517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1">
                <a:solidFill>
                  <a:srgbClr val="F7C76A"/>
                </a:solidFill>
                <a:latin typeface="Aptos Display"/>
              </a:rPr>
              <a:t>Pregunta correcta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88920"/>
            <a:ext cx="269748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000" b="1">
                <a:solidFill>
                  <a:srgbClr val="F8FCFF"/>
                </a:solidFill>
                <a:latin typeface="Aptos Display"/>
              </a:rPr>
              <a:t>No es “¿cuánto cuesta la IA?”</a:t>
            </a:r>
            <a:br/>
            <a:br/>
            <a:r>
              <a:rPr>
                <a:latin typeface="Aptos"/>
              </a:rPr>
              <a:t>Es “¿cuánto cuesta seguir igual?”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87568"/>
            <a:ext cx="9875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2DF6C8"/>
                </a:solidFill>
                <a:latin typeface="Aptos Display"/>
              </a:rPr>
              <a:t>Command Center 360 · Centro de Control Ejecutivo para Empresas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